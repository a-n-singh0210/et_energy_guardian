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Disruption probability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3ECD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Strait of Hormuz</c:v>
                  </c:pt>
                  <c:pt idx="1">
                    <c:v>Red Sea / Bab-el-Mandeb</c:v>
                  </c:pt>
                  <c:pt idx="2">
                    <c:v>Global (OPEC+/sanctions)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</c:v>
                </c:pt>
                <c:pt idx="1">
                  <c:v>99</c:v>
                </c:pt>
                <c:pt idx="2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3ECD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3E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Reactive (no system)</c:v>
                </c:pt>
              </c:strCache>
            </c:strRef>
          </c:tx>
          <c:spPr>
            <a:solidFill>
              <a:srgbClr val="DC3545"/>
            </a:solidFill>
            <a:ln w="38100" cap="flat">
              <a:solidFill>
                <a:srgbClr val="DC3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3545"/>
              </a:solidFill>
              <a:ln w="9525" cap="flat">
                <a:solidFill>
                  <a:srgbClr val="DC3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2.83</c:v>
                </c:pt>
                <c:pt idx="1">
                  <c:v>1.91</c:v>
                </c:pt>
                <c:pt idx="2">
                  <c:v>1.3</c:v>
                </c:pt>
                <c:pt idx="3">
                  <c:v>0.88</c:v>
                </c:pt>
                <c:pt idx="4">
                  <c:v>0.59</c:v>
                </c:pt>
                <c:pt idx="5">
                  <c:v>0.4</c:v>
                </c:pt>
                <c:pt idx="6">
                  <c:v>0.27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Managed (EnergyGuardian)</c:v>
                </c:pt>
              </c:strCache>
            </c:strRef>
          </c:tx>
          <c:spPr>
            <a:solidFill>
              <a:srgbClr val="22A06B"/>
            </a:solidFill>
            <a:ln w="38100" cap="flat">
              <a:solidFill>
                <a:srgbClr val="22A0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A06B"/>
              </a:solidFill>
              <a:ln w="9525" cap="flat">
                <a:solidFill>
                  <a:srgbClr val="22A0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2.83</c:v>
                </c:pt>
                <c:pt idx="1">
                  <c:v>1.04</c:v>
                </c:pt>
                <c:pt idx="2">
                  <c:v>0.38</c:v>
                </c:pt>
                <c:pt idx="3">
                  <c:v>0.14</c:v>
                </c:pt>
                <c:pt idx="4">
                  <c:v>0.05</c:v>
                </c:pt>
                <c:pt idx="5">
                  <c:v>0.02</c:v>
                </c:pt>
                <c:pt idx="6">
                  <c:v>0.01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9C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3A362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A69C88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A69C88"/>
                    </a:solidFill>
                    <a:latin typeface="Arial"/>
                  </a:rPr>
                  <a:t>GDP growth impact (pp)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9C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F3ECDD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Tanker transits / yr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3ECD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Strait of Hormuz</c:v>
                  </c:pt>
                  <c:pt idx="1">
                    <c:v>Bab-el-Mandeb</c:v>
                  </c:pt>
                  <c:pt idx="2">
                    <c:v>Suez Canal</c:v>
                  </c:pt>
                  <c:pt idx="3">
                    <c:v>Cape of Good Hope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19540</c:v>
                </c:pt>
                <c:pt idx="1">
                  <c:v>6424</c:v>
                </c:pt>
                <c:pt idx="2">
                  <c:v>6418</c:v>
                </c:pt>
                <c:pt idx="3">
                  <c:v>4706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3ECD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 positives</c:v>
                </c:pt>
              </c:strCache>
            </c:strRef>
          </c:tx>
          <c:spPr>
            <a:solidFill>
              <a:srgbClr val="22A0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3ECD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Independent baseline</c:v>
                  </c:pt>
                  <c:pt idx="1">
                    <c:v>EnergyGuardian compound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False positives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3ECD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Independent baseline</c:v>
                  </c:pt>
                  <c:pt idx="1">
                    <c:v>EnergyGuardian compound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3ECD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F3ECDD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imports 88% of its crude and 40-45% goes through one chokepoint. We built the intelligence layer that says what to do when it's threatened --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Stress-tested every few months. The gap is not data; it is the decision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system, one loop. Watches the world, models the shock, hands over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-- real headlines pulled seconds ago, scored by corridor AND supplier. LLM extraction (tech #6).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Genuine multi-agent orchestration (tech #1). Signal to recommendation in 0.3ms -- great for the end-to-end-response-time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Transparent scenario simulation (tech #3). Show the exact arithmetic behind every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Red = lost growth without a response system; green = managed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procurement team acts on within hours: grades, volumes, route, landed cost, arrival.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Tells the policymaker the reserve won't fully bridge, and by how much.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graph (tech #5) -- real networkx graph traversal, not a lookup. Impact query shows cut-off suppliers.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Geospatial (tech #2): corridor/port mapping + AIS-derived vessel traffic from IMF PortWatch. Real data, not simulated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vector RAG (tech #4): dense Gemini embeddings, cited corpus, inline [source] citations. Not just keyword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is measured, not claimed -- on real data, against a fair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 six suggested technology areas is implemented for real and inspectable.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EnergyGuardian turns a 47-day scramble into a same-day plan -- with every assumption on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2C1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SECURITY · GEOPOLITICAL 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energy-supply crises from reactive to anticipatory — live signal to executable recommendation, in seconds.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Energy Supply Chain Resilience for Import-Dependent Economies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STRUCTURAL VULNERABILITY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chokepoint. Nine days of cover.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1645920"/>
          </a:xfrm>
          <a:prstGeom prst="roundRect">
            <a:avLst>
              <a:gd name="adj" fmla="val 6667"/>
            </a:avLst>
          </a:prstGeom>
          <a:solidFill>
            <a:srgbClr val="201E1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78408" y="3154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India's crude is imported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103120"/>
            <a:ext cx="5257800" cy="1645920"/>
          </a:xfrm>
          <a:prstGeom prst="roundRect">
            <a:avLst>
              <a:gd name="adj" fmla="val 6667"/>
            </a:avLst>
          </a:prstGeom>
          <a:solidFill>
            <a:srgbClr val="201E1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331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40–45%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601968" y="3154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transits the Strait of Hormuz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257800" cy="1645920"/>
          </a:xfrm>
          <a:prstGeom prst="roundRect">
            <a:avLst>
              <a:gd name="adj" fmla="val 6667"/>
            </a:avLst>
          </a:prstGeom>
          <a:solidFill>
            <a:srgbClr val="201E1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06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 days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78408" y="5029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Petroleum Reserve cover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257800" cy="1645920"/>
          </a:xfrm>
          <a:prstGeom prst="roundRect">
            <a:avLst>
              <a:gd name="adj" fmla="val 6667"/>
            </a:avLst>
          </a:prstGeom>
          <a:solidFill>
            <a:srgbClr val="201E1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4206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 days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601968" y="5029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to stabilise without response intelligence (McKinsey)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2025 US–Iran standoff sent Brent +8% in a single session. Traditional tools cannot model these scenarios, evaluate corridors, or orchestrate a response.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signal → scenario → response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201E1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6517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B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8408" y="41605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news + market signals scored by corridor &amp; supplier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41648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201E1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6517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73168" y="41605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scenario → Brent, import gap, GDP, fuel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36408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201E19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26517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549640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67928" y="41605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crude reroutes + SPR plan, executable in hours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carries the live risk posture through the full cascade — reactive crisis response becomes a managed, anticipatory process.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RISK INTELLIGENCE AGENT ·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disruption probability, by corridor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201168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201E19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2697480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live Google News RSS — Hormuz, Red Sea, sanctions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(Gemini) reads each headline → structured event: corridor, supplier, severity, confidence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Recency-weighted into a live probability per corridor and supplier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continuously, not weekly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· MULTI-AGENT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cooperating agents, 0.3 ms end-to-end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201E1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disrupted corridors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87168" y="30632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52928" y="2194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201E19"/>
          </a:solidFill>
          <a:ln/>
        </p:spPr>
      </p:sp>
      <p:sp>
        <p:nvSpPr>
          <p:cNvPr id="11" name="Text 9"/>
          <p:cNvSpPr/>
          <p:nvPr/>
        </p:nvSpPr>
        <p:spPr>
          <a:xfrm>
            <a:off x="3081528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81528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81528" y="324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1528" y="36118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the cascade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0016" y="30632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65776" y="2194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201E19"/>
          </a:solidFill>
          <a:ln/>
        </p:spPr>
      </p:sp>
      <p:sp>
        <p:nvSpPr>
          <p:cNvPr id="17" name="Text 15"/>
          <p:cNvSpPr/>
          <p:nvPr/>
        </p:nvSpPr>
        <p:spPr>
          <a:xfrm>
            <a:off x="5294376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94376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94376" y="324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94376" y="36118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reroutes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2864" y="30632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78624" y="2194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201E19"/>
          </a:solidFill>
          <a:ln/>
        </p:spPr>
      </p:sp>
      <p:sp>
        <p:nvSpPr>
          <p:cNvPr id="23" name="Text 21"/>
          <p:cNvSpPr/>
          <p:nvPr/>
        </p:nvSpPr>
        <p:spPr>
          <a:xfrm>
            <a:off x="7507224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07224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07224" y="324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07224" y="36118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SPR drawdown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25712" y="30632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91472" y="2194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201E19"/>
          </a:solidFill>
          <a:ln/>
        </p:spPr>
      </p:sp>
      <p:sp>
        <p:nvSpPr>
          <p:cNvPr id="29" name="Text 27"/>
          <p:cNvSpPr/>
          <p:nvPr/>
        </p:nvSpPr>
        <p:spPr>
          <a:xfrm>
            <a:off x="9720072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20072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20072" y="324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20072" y="36118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past shocks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blackboard orchestrator runs the team over a shared context; each agent records its decision and latency. This isn't a relabelled pipeline — it powers the whole /resilience response, and the trace is shown live in the UI.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SCENARIO MODELLER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Hormuz 60% + OPEC+ cut → the full cascade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01E19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96112" y="2560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+136%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01E19"/>
          </a:solidFill>
          <a:ln/>
        </p:spPr>
      </p:sp>
      <p:sp>
        <p:nvSpPr>
          <p:cNvPr id="9" name="Text 7"/>
          <p:cNvSpPr/>
          <p:nvPr/>
        </p:nvSpPr>
        <p:spPr>
          <a:xfrm>
            <a:off x="4599432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gap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99432" y="2560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1772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mb/d at risk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01E19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bridge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02752" y="2560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2104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cover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01E19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growth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6112" y="4251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−2.83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4400" y="4846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7947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01E19"/>
          </a:solidFill>
          <a:ln/>
        </p:spPr>
      </p:sp>
      <p:sp>
        <p:nvSpPr>
          <p:cNvPr id="21" name="Text 19"/>
          <p:cNvSpPr/>
          <p:nvPr/>
        </p:nvSpPr>
        <p:spPr>
          <a:xfrm>
            <a:off x="4599432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price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99432" y="4251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617720" y="4846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7947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01E19"/>
          </a:solidFill>
          <a:ln/>
        </p:spPr>
      </p:sp>
      <p:sp>
        <p:nvSpPr>
          <p:cNvPr id="25" name="Text 23"/>
          <p:cNvSpPr/>
          <p:nvPr/>
        </p:nvSpPr>
        <p:spPr>
          <a:xfrm>
            <a:off x="8302752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02752" y="4251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is a transparent function of documented, editable assumptions — the exact arithmetic is on screen. No black box.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ECONOMIC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47-day gap, quantified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10881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response system, the economy bleeds growth for months longer. That delta is what EnergyGuardian buys back.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PROCUREMENT ORCHESTRATOR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rerouting — in hours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201E1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86968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gap covered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201E1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75888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landed /bbl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201E19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64808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cargo ETA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2011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201E19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53728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Atlantic/Cape sources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2377440"/>
          </a:xfrm>
          <a:prstGeom prst="roundRect">
            <a:avLst>
              <a:gd name="adj" fmla="val 4615"/>
            </a:avLst>
          </a:prstGeom>
          <a:solidFill>
            <a:srgbClr val="201E1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8404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the 1.52 mb/d gap, the orchestrator avoids disrupted corridors and ranks alternatives by landed cost, transit time and refinery-grade fit: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3891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Venezuela (Merey) · heavy sour · 40d · $181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(Bonny Light) · light sweet · 22d · $191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 (Tupi) · medium sweet · 40d · $190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(WTI Midland) · light sweet · 38d · $192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RESERVE OPTIMISER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reserve bridge to resupply?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201E1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94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651760" y="22494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 — import gap opens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201E1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1638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1760" y="31638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exhausted at full draw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201E1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782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40782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rerouted cargo arrives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201E1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9926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51760" y="4992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resupply ramp complete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an exposure window between SPR exhaustion and full resupply — the system flags it and recommends demand curtailment + shorter-haul lifting. Decision support for policymakers under time pressure.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blast radius of a disruption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201E1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↔ corridor ↔ grade ↔ refinery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networkx graph: 11 suppliers, 3 corridors, 5 grades, 2 refineries, 35 relationships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traversal answers what tables can't: if a corridor closes, which suppliers are cut off?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nodes carry live disruption probability from the agent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26480" y="2057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Hormuz + Red Sea disruption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2560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2A2721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724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cut off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Iraq · Saudi · Russia · Kazakhstan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3703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2A272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867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77240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mb/d import volume at risk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4846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2A2721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5010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7724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Atlantic/Cape suppliers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B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INTELLIGENCE · AIS-DERIVED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map + real vessel traffic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201168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201E19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map shows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2743200"/>
            <a:ext cx="3611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origins → chokepoints → India ports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Disrupted corridors turn red; resilient Cape reroutes highlight green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AIS-derived tanker-transit counts (IMF PortWatch) at each chokepoint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Hormuz alone: ~19,500 tankers/yr — the most oil-critical chokepoint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· DENSE-VECTOR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answers, every claim cited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A272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 “What happens to India if the Strait of Hormuz closes?”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201E1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24612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would immediately lose 40–45% of its crude imports [hormuz]. The SPR gives ~9.5 days at a full halt, ~70–74 days with commercial stocks [spr]. Alternatives from West Africa / Atlantic / Latin America exist but take 22–42 days to arrive [alt_sources]. OPEC+ spare capacity can't help — most of it sits behind Hormuz [opec_spare].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embeddings (3072-dim)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a cited corpus → cosine retrieval → grounded generation. TF-IDF fallback keeps it working offline.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TRUST IT · TECHNICAL EXCELLENCE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edge, measured on real data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01168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201E19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2240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Back-tested on real 2023–24 Red Sea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926080"/>
            <a:ext cx="33375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the true detections of a fair baseline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false positives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Analogues: Russia 2022 (0.97), Gulf War 1990 (0.91)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assumption documented &amp; editable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suggested technologies — real, not box-ticked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201E1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2359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9718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5-agent blackboard orchestrator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201E19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2359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+ AIS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6008" y="29718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map + PortWatch vessel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201E19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23960" y="2359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Simulation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9328" y="29718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impact cascade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201E1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4187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RAG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4800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embeddings, cited corpus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93192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201E19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0" y="4187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36008" y="4800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impact traversal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93192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201E19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823960" y="4187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Extraction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9328" y="4800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news → structured signals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run: live news + Gemini free tier + open AIS/market data — no paid feeds.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EnergyGuardian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TO ANTICIPATORY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to recommendation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seconds — with every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3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on the table.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</a:rPr>
              <a:t>Transparent  ·  </a:t>
            </a:r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</a:rPr>
              <a:t>Validated  ·  </a:t>
            </a:r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</a:rPr>
              <a:t>Live  ·  </a:t>
            </a:r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</a:rPr>
              <a:t>All six technologies  ·  Free to run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real-time AIS positions · sanctions-registry RAG · multi-commodity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2026-07-22T16:04:10Z</dcterms:created>
  <dcterms:modified xsi:type="dcterms:W3CDTF">2026-07-22T16:04:10Z</dcterms:modified>
</cp:coreProperties>
</file>